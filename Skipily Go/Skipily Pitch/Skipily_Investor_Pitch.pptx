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1617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573172" y="3692884"/>
            <a:ext cx="4080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digitale Plattform für Bootseigner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731520" y="47777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Deck  |  2026</a:t>
            </a:r>
            <a:endParaRPr lang="en-US" sz="11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E072596-9197-4323-703B-3C5D1C786A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380"/>
          <a:stretch>
            <a:fillRect/>
          </a:stretch>
        </p:blipFill>
        <p:spPr>
          <a:xfrm>
            <a:off x="73152" y="457200"/>
            <a:ext cx="3840481" cy="32356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1600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Bootseigner stehen vor echten Herausforderungen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14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1463040" y="1554480"/>
            <a:ext cx="822960" cy="822960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Unterwegs ein Problem?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See oder im fremden Hafen: Motor springt nicht an, ein Ersatzteil fehlt. Wer hilft? Wo ist der nächste Service? Maße und Teilenummern liegen zu Hause im Ordner.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29000" y="1371600"/>
            <a:ext cx="2514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4251960" y="1554480"/>
            <a:ext cx="822960" cy="822960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7373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Ersatzteil dringend nötig?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66160" y="28346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Impeller defekt, Keilriemen gerissen, Anoden verbraucht. Welches Modell? Welche Maße? Die Infos liegen verstreut in Handbüchern, Rechnungen und Notizen.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1371600"/>
            <a:ext cx="2514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7040880" y="1554480"/>
            <a:ext cx="822960" cy="822960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7373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Wartung vergessen?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55080" y="28346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Rettungsinsel, Gasprüfung, Feuerlöscher, Signalmittel — über 30 verschiedene Prüfzyklen. Ohne System wird eine vergessene Wartung schnell zum teuren Schaden.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79" y="4526280"/>
            <a:ext cx="8092439" cy="411480"/>
          </a:xfrm>
          <a:prstGeom prst="rect">
            <a:avLst/>
          </a:prstGeom>
          <a:solidFill>
            <a:srgbClr val="050D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6"/>
          <p:cNvSpPr/>
          <p:nvPr/>
        </p:nvSpPr>
        <p:spPr>
          <a:xfrm>
            <a:off x="640080" y="452628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Mio. Freizeitboote weltweit — die meisten werden noch analog verwaltet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109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KOMPLEXITÄT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12064" y="3931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Über 30 Prüfzyklen auf jedem Boot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66928"/>
          </a:xfrm>
          <a:prstGeom prst="rect">
            <a:avLst/>
          </a:prstGeom>
          <a:solidFill>
            <a:srgbClr val="1222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56692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6128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515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&amp; Antrieb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834640" y="10515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Motoröl &amp; Filter (jährl./100h) · Impeller/Seewasserpumpe (jährl./200h) · Keilriemen (jährl.) · Wärmetauscher (2-3J) · Getriebeöl (jährl.) · Saildrive-Dichtung (5-7J) · Kraftstofffilter (jährl.) · Kühlflüssigkeit (2J) · Opferanoden Motor (jährl.)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709928"/>
            <a:ext cx="8229600" cy="566928"/>
          </a:xfrm>
          <a:prstGeom prst="rect">
            <a:avLst/>
          </a:prstGeom>
          <a:solidFill>
            <a:srgbClr val="0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457200" y="1709928"/>
            <a:ext cx="54864" cy="5669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1965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17099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Sicherheit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834640" y="170992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Rettungsinsel (3J Wartung, max. 15J) · Automatik-Rettungswesten (2J Wartung, max. 10J) · CO2-Patronen (Sichtprüfung) · Feuerlöscher (2J Wartung) · EPIRB-Batterie (5J) · EPIRB GPS-Test (vierteljährl.) · Erste-Hilfe-Set (jährl.)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2368296"/>
            <a:ext cx="8229600" cy="566928"/>
          </a:xfrm>
          <a:prstGeom prst="rect">
            <a:avLst/>
          </a:prstGeom>
          <a:solidFill>
            <a:srgbClr val="1222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457200" y="2368296"/>
            <a:ext cx="54864" cy="566928"/>
          </a:xfrm>
          <a:prstGeom prst="rect">
            <a:avLst/>
          </a:prstGeom>
          <a:solidFill>
            <a:srgbClr val="F57F17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7802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23682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Signalmittel &amp; Gas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2834640" y="2368296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Seenotraketen &amp; Handfackeln (Ablauf 3-4J, Pyroschein!) · Rauchsignale (Ablauf 3-4J) · Gasanlage G608 (2J, gesetzl. Pflicht!) · Druckregler &amp; Schläuche (6J tauschen) · Prüfplakette + blaues Prüfbuch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57200" y="3026664"/>
            <a:ext cx="8229600" cy="566928"/>
          </a:xfrm>
          <a:prstGeom prst="rect">
            <a:avLst/>
          </a:prstGeom>
          <a:solidFill>
            <a:srgbClr val="0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457200" y="3026664"/>
            <a:ext cx="54864" cy="56692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13639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0266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Rigg &amp; Segel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2834640" y="302666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Wanten &amp; Stagen (10-15J tauschen) · Laufendes Gut (5-8J) · Segel zum Segelmacher (jährl.) · Winden reinigen &amp; schmieren (jährl.) · Rollreffanlage (jährl.) · Splinte &amp; Schäkel (jährl.) · Mastinspektion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57200" y="3685032"/>
            <a:ext cx="8229600" cy="566928"/>
          </a:xfrm>
          <a:prstGeom prst="rect">
            <a:avLst/>
          </a:prstGeom>
          <a:solidFill>
            <a:srgbClr val="1222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Shape 19"/>
          <p:cNvSpPr/>
          <p:nvPr/>
        </p:nvSpPr>
        <p:spPr>
          <a:xfrm>
            <a:off x="457200" y="3685032"/>
            <a:ext cx="54864" cy="566928"/>
          </a:xfrm>
          <a:prstGeom prst="rect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79476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97280" y="368503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Unterwasserschiff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2834640" y="368503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Antifouling (jährl. beim Kranen) · Opferanoden (jährl., tauschen bei &gt;50%) · Seeventile fetten &amp; prüfen (jährl.) · Ruderanlage &amp; Lager · Propeller · Bugstrahlruder-Anoden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457200" y="4343400"/>
            <a:ext cx="8229600" cy="566928"/>
          </a:xfrm>
          <a:prstGeom prst="rect">
            <a:avLst/>
          </a:prstGeom>
          <a:solidFill>
            <a:srgbClr val="0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Shape 23"/>
          <p:cNvSpPr/>
          <p:nvPr/>
        </p:nvSpPr>
        <p:spPr>
          <a:xfrm>
            <a:off x="457200" y="4343400"/>
            <a:ext cx="54864" cy="566928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453128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97280" y="43434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Elektrik &amp; Navigation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2834640" y="43434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Batterien prüfen (jährl.) · Landstromanschluss · Positionslichter · AIS-Prüfung · Kompass-Deviation · Kartenplotter-Updates · Solaranlage · Tauwerk &amp; Festmacher (jährl. Sichtprüfung)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2189356" y="-397764"/>
            <a:ext cx="8229600" cy="365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27"/>
          <p:cNvSpPr/>
          <p:nvPr/>
        </p:nvSpPr>
        <p:spPr>
          <a:xfrm>
            <a:off x="2189356" y="-3977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Skipily digitalisiert und erinnert automatisch an jeden einzelnen Prüfzyklus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40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Skipily — Dein digitaler Bootsmanager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25146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2514600" cy="54864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5"/>
          <p:cNvSpPr/>
          <p:nvPr/>
        </p:nvSpPr>
        <p:spPr>
          <a:xfrm>
            <a:off x="1463040" y="1554480"/>
            <a:ext cx="822960" cy="822960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17373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Sofort-Hilfe unterwegs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77240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KI-Assistent beantwortet Bootsfragen sofort. Service-Finder zeigt Werften und Händler im aktuellen Hafen. Alle technischen Daten immer dabei.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429000" y="1371600"/>
            <a:ext cx="25146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9"/>
          <p:cNvSpPr/>
          <p:nvPr/>
        </p:nvSpPr>
        <p:spPr>
          <a:xfrm>
            <a:off x="3429000" y="1371600"/>
            <a:ext cx="25146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0"/>
          <p:cNvSpPr/>
          <p:nvPr/>
        </p:nvSpPr>
        <p:spPr>
          <a:xfrm>
            <a:off x="4251960" y="1554480"/>
            <a:ext cx="822960" cy="822960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7373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6616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Ersatzteile in Sekunden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566160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Integrierter Shop mit Teilenummern, Maßen und Kompatibilität. Direkt aus der Ausrüstungsliste bestellen — kein Suchen, kein Raten.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217920" y="1371600"/>
            <a:ext cx="25146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4"/>
          <p:cNvSpPr/>
          <p:nvPr/>
        </p:nvSpPr>
        <p:spPr>
          <a:xfrm>
            <a:off x="6217920" y="1371600"/>
            <a:ext cx="2514600" cy="54864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7040880" y="1554480"/>
            <a:ext cx="822960" cy="822960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17373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508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Termin vergessen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355080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Wartungserinnerungen für alle 30+ Prüfzyklen. Von der Rettungsinsel bis zum Ölwechsel — alles im Blick.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4023360"/>
            <a:ext cx="320040" cy="320040"/>
          </a:xfrm>
          <a:prstGeom prst="ellipse">
            <a:avLst/>
          </a:prstGeom>
          <a:solidFill>
            <a:srgbClr val="050D1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06908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</a:t>
            </a:r>
            <a:r>
              <a:rPr lang="en-US" sz="900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Segel-</a:t>
            </a:r>
            <a:r>
              <a:rPr lang="en-US" sz="900" dirty="0" err="1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Maßblätter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2724912" y="4023360"/>
            <a:ext cx="320040" cy="320040"/>
          </a:xfrm>
          <a:prstGeom prst="ellipse">
            <a:avLst/>
          </a:prstGeom>
          <a:solidFill>
            <a:srgbClr val="050D1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0632" y="4069080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136392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zu 5 Fotos pro Ausrüstung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4809744" y="4023360"/>
            <a:ext cx="320040" cy="320040"/>
          </a:xfrm>
          <a:prstGeom prst="ellipse">
            <a:avLst/>
          </a:prstGeom>
          <a:solidFill>
            <a:srgbClr val="050D1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5464" y="4069080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221224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Gefahrstoff-Datenblätter im Shop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6894576" y="4023360"/>
            <a:ext cx="320040" cy="320040"/>
          </a:xfrm>
          <a:prstGeom prst="ellipse">
            <a:avLst/>
          </a:prstGeom>
          <a:solidFill>
            <a:srgbClr val="050D1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0296" y="4069080"/>
            <a:ext cx="228600" cy="2286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306056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Service-Provider nach Standort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Was Skipily heute schon kann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14600" cy="160020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4864" cy="1600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Bootsverwaltung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011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Fotos, technische Daten, Baujahr, Maße — alles an einem Ort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29000" y="1188720"/>
            <a:ext cx="2514600" cy="160020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3429000" y="1188720"/>
            <a:ext cx="54864" cy="1600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3716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Ausrüstungs-Manager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11880" y="2011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Fotos, Seriennummern, Wartungszyklen, Teilenummern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514600" cy="160020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6217920" y="1188720"/>
            <a:ext cx="54864" cy="1600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3716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Segel-Maßblätter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0" y="2011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Typen: Großsegel, Genua, Gennaker, Code0 (OneSails)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017520"/>
            <a:ext cx="2514600" cy="160020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640080" y="3017520"/>
            <a:ext cx="54864" cy="1600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2004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Integrierter Shop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22960" y="3840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Zubehör mit Preisvergleich, Gefahrstoffinfos, Lieferzeiten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429000" y="3017520"/>
            <a:ext cx="2514600" cy="160020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19"/>
          <p:cNvSpPr/>
          <p:nvPr/>
        </p:nvSpPr>
        <p:spPr>
          <a:xfrm>
            <a:off x="3429000" y="3017520"/>
            <a:ext cx="54864" cy="1600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20040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KI-Assistent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611880" y="3840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Kontextbezogene Antworten, Wartungstipps, Troubleshooting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17920" y="3017520"/>
            <a:ext cx="2514600" cy="160020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Shape 23"/>
          <p:cNvSpPr/>
          <p:nvPr/>
        </p:nvSpPr>
        <p:spPr>
          <a:xfrm>
            <a:off x="6217920" y="3017520"/>
            <a:ext cx="54864" cy="1600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20040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00800" y="356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Service-Finder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400800" y="3840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Werften, Segelmacher, Händler nach Standort und Kategorie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40080" y="4663440"/>
            <a:ext cx="809244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27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fertig  |  iOS App (SwiftUI)  |  Supabase Backend  |  29 DB-Migrationen  |  7 Kernfeatures live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MARKTPOTENZIAL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Ein wachsender Milliarden-Markt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2514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25146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 Mio+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Freizeitboote weltweit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Mio. Nordamerika, ~6 Mio. Europa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29000" y="1188720"/>
            <a:ext cx="2514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3429000" y="1188720"/>
            <a:ext cx="25146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429000" y="1371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Wachstum Bootsbesitz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194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 2020 und 2025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514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5146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217920" y="1371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€38 Mrd.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17920" y="1874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Globaler Bootsmarkt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194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8,2% bis 2034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063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 /  SAM  /  SOM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383280"/>
            <a:ext cx="2514600" cy="640080"/>
          </a:xfrm>
          <a:prstGeom prst="rect">
            <a:avLst/>
          </a:prstGeom>
          <a:solidFill>
            <a:srgbClr val="050D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40080" y="33832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€38 Mrd.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45920" y="3383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TAM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Globaler Bootsmarkt (Fortune BI)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29000" y="3383280"/>
            <a:ext cx="2514600" cy="640080"/>
          </a:xfrm>
          <a:prstGeom prst="rect">
            <a:avLst/>
          </a:prstGeom>
          <a:solidFill>
            <a:srgbClr val="050D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3429000" y="33832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€3.2 Mrd.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434840" y="3383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SAM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Digitales Bootsmanagement Europa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3383280"/>
            <a:ext cx="2514600" cy="640080"/>
          </a:xfrm>
          <a:prstGeom prst="rect">
            <a:avLst/>
          </a:prstGeom>
          <a:solidFill>
            <a:srgbClr val="050D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217920" y="33832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€120 Mio.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223760" y="3383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SOM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DACH + Mittelmeer in 5 Jahren</a:t>
            </a:r>
            <a:endParaRPr lang="en-US" sz="10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51960"/>
            <a:ext cx="182880" cy="1828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914400" y="4233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+61% Nachfrage E-Boote seit 2021</a:t>
            </a:r>
            <a:endParaRPr lang="en-US" sz="9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251960"/>
            <a:ext cx="182880" cy="18288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703320" y="4233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Europa: schnellstes Wachstum</a:t>
            </a:r>
            <a:endParaRPr lang="en-US" sz="9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251960"/>
            <a:ext cx="182880" cy="1828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492240" y="4233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 Bootswert = jährl. Wartung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GESCHÄFTSMODELL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Drei Erlösströme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347472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4114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SaaS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(gratis)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Boot, 10 Ausrüstungen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2423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€9,99/Mo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651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Unbegrenzt, KI, erw. Shop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3063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€19,99/Mo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3291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API, Flotten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83280" y="1188720"/>
            <a:ext cx="2560320" cy="347472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3383280" y="1188720"/>
            <a:ext cx="2560320" cy="41148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234440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8620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Marktplatz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56616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8-15% Provision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566160" y="2103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 kaufen Zubehör und Ersatzteile direkt aus der Ausrüstungsliste. Nahtlos vom Wartungsbedarf zum Kauf.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26480" y="1188720"/>
            <a:ext cx="2560320" cy="347472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7"/>
          <p:cNvSpPr/>
          <p:nvPr/>
        </p:nvSpPr>
        <p:spPr>
          <a:xfrm>
            <a:off x="6126480" y="1188720"/>
            <a:ext cx="2560320" cy="4114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234440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2940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Partner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309360" y="1817370"/>
            <a:ext cx="2194560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Werften &amp; Segelmacher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 err="1">
                <a:solidFill>
                  <a:srgbClr val="FFFFFF"/>
                </a:solidFill>
              </a:rPr>
              <a:t>Serviceunternehmen</a:t>
            </a:r>
            <a:endParaRPr lang="en-US" sz="1050" b="1" dirty="0">
              <a:solidFill>
                <a:srgbClr val="FFFFFF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1050" b="1" dirty="0">
                <a:solidFill>
                  <a:srgbClr val="FFFFFF"/>
                </a:solidFill>
              </a:rPr>
              <a:t>Motor</a:t>
            </a:r>
          </a:p>
          <a:p>
            <a:pPr marL="171450" indent="-171450">
              <a:buFontTx/>
              <a:buChar char="-"/>
            </a:pPr>
            <a:r>
              <a:rPr lang="en-US" sz="1050" b="1" dirty="0" err="1">
                <a:solidFill>
                  <a:srgbClr val="FFFFFF"/>
                </a:solidFill>
              </a:rPr>
              <a:t>Instrumente</a:t>
            </a:r>
            <a:endParaRPr lang="en-US" sz="1050" b="1" dirty="0">
              <a:solidFill>
                <a:srgbClr val="FFFFFF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1050" b="1" dirty="0" err="1">
                <a:solidFill>
                  <a:srgbClr val="FFFFFF"/>
                </a:solidFill>
              </a:rPr>
              <a:t>Elektrik</a:t>
            </a:r>
            <a:endParaRPr lang="en-US" sz="1050" b="1" dirty="0">
              <a:solidFill>
                <a:srgbClr val="FFFFFF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1050" b="1" dirty="0">
                <a:solidFill>
                  <a:srgbClr val="FFFFFF"/>
                </a:solidFill>
              </a:rPr>
              <a:t>Klima/</a:t>
            </a:r>
            <a:r>
              <a:rPr lang="en-US" sz="1050" b="1" dirty="0" err="1">
                <a:solidFill>
                  <a:srgbClr val="FFFFFF"/>
                </a:solidFill>
              </a:rPr>
              <a:t>Heizung</a:t>
            </a:r>
            <a:endParaRPr lang="en-US" sz="1050" b="1" dirty="0">
              <a:solidFill>
                <a:srgbClr val="FFFFFF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1050" b="1" dirty="0" err="1">
                <a:solidFill>
                  <a:srgbClr val="FFFFFF"/>
                </a:solidFill>
              </a:rPr>
              <a:t>etc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WETTBEWERBSVORTEIL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Was Skipily einzigartig macht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858768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640080" y="3858768"/>
            <a:ext cx="54864" cy="71323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868680" y="3968496"/>
            <a:ext cx="493776" cy="493776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05993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385876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Segel-Maßblätter digital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0" y="385876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Weltweit erste App mit standardisierten Formblättern für Großsegel, Genua, Gennaker und Code0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05740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640080" y="2057400"/>
            <a:ext cx="54864" cy="71323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868680" y="2167128"/>
            <a:ext cx="493776" cy="493776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25856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20574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KI-Assistent an Bord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114800" y="205740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Sofortige, kontextbezogene Hilfe bei Wartungsfragen — auch unterwegs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292608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4"/>
          <p:cNvSpPr/>
          <p:nvPr/>
        </p:nvSpPr>
        <p:spPr>
          <a:xfrm>
            <a:off x="640080" y="2926080"/>
            <a:ext cx="54864" cy="71323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5"/>
          <p:cNvSpPr/>
          <p:nvPr/>
        </p:nvSpPr>
        <p:spPr>
          <a:xfrm>
            <a:off x="868680" y="3035808"/>
            <a:ext cx="493776" cy="493776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127248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29260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Integrierter Marktplatz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114800" y="292608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 vom Wartungsbedarf zum Kauf — Teilenummern automatisch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1175004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19"/>
          <p:cNvSpPr/>
          <p:nvPr/>
        </p:nvSpPr>
        <p:spPr>
          <a:xfrm>
            <a:off x="640080" y="1175004"/>
            <a:ext cx="54864" cy="71323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Shape 20"/>
          <p:cNvSpPr/>
          <p:nvPr/>
        </p:nvSpPr>
        <p:spPr>
          <a:xfrm>
            <a:off x="868680" y="1284732"/>
            <a:ext cx="493776" cy="493776"/>
          </a:xfrm>
          <a:prstGeom prst="ellipse">
            <a:avLst/>
          </a:prstGeom>
          <a:solidFill>
            <a:srgbClr val="FFF0E8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1376172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54480" y="117500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Ganzheitliche Plattform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114800" y="117500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Boot, Ausrüstung, Segel, Shop, Service, KI — eine App statt fünf Tools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ENTWICKLUNGSSTAND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 steht — Plattform wächst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4114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Aktueller Stand (Q1 2026)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komplett funktionsfähig (SwiftUI)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Backend (Auth, DB, Storage)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Bootsverwaltung mit Foto-Upload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Ausrüstungs-Manager (5 Fotos, Wartungszyklen)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Segel-</a:t>
            </a:r>
            <a:r>
              <a:rPr lang="en-US" sz="10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Maßblatt</a:t>
            </a: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Formulare</a:t>
            </a: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</a:t>
            </a:r>
            <a:r>
              <a:rPr lang="en-US" sz="10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</a:t>
            </a: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integriert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mit Produktdetails &amp; Gefahrstoffinfos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Service-Finder mit Karte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mit Avatar-Upload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Datenbank-Migrationen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73152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54864" cy="7315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1188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Store, Marketing, Beta-Community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2057400"/>
            <a:ext cx="3840480" cy="73152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4846320" y="2057400"/>
            <a:ext cx="54864" cy="73152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Q3-Q4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057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Android, KI v2, Payment, B2B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2926080"/>
            <a:ext cx="3840480" cy="73152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54864" cy="7315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029200" y="2926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Community, Häfen, API, International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3794760"/>
            <a:ext cx="3840480" cy="731520"/>
          </a:xfrm>
          <a:prstGeom prst="rect">
            <a:avLst/>
          </a:prstGeom>
          <a:solidFill>
            <a:srgbClr val="1222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4846320" y="3794760"/>
            <a:ext cx="54864" cy="731520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029200" y="3794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4114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Flotten, IoT, Versicherungen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Seed-Runde: €500.000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931920" cy="411480"/>
          </a:xfrm>
          <a:prstGeom prst="rect">
            <a:avLst/>
          </a:prstGeom>
          <a:solidFill>
            <a:srgbClr val="050D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Verwendung der Mittel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Produktentwicklung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984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Android, KI-Training, API (MVP steht!)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4688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Vertrieb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26700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Acquisition, boot Düsseldorf, Interboot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31546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1546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Team-Aufbau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33558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Entwickler + 1 Sales/Partnerships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38404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8404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4041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Legal, 18 Monate Runway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3840480" cy="4114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84632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Meilensteine 18 Monate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74920" y="17830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 registrierte Nutzer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zahlende Premium-Kunden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€200K ARR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im Play Store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B2B Partner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Händler im Marktplatz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5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Horizon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0A1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74320"/>
            <a:ext cx="457200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Bereit, das Bootsmanagement zu revolutionieren?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 aufnehmen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contact@skipily.com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www.skipily.com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731520" y="47777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 für Ihre Zeit und Ihr Interesse.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1006</Words>
  <Application>Microsoft Macintosh PowerPoint</Application>
  <PresentationFormat>Bildschirmpräsentation (16:9)</PresentationFormat>
  <Paragraphs>172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Skipily - Investor Pitch Deck</dc:title>
  <dc:subject>PptxGenJS Presentation</dc:subject>
  <dc:creator>Skipily</dc:creator>
  <cp:lastModifiedBy>Ekkehart Padberg</cp:lastModifiedBy>
  <cp:revision>3</cp:revision>
  <dcterms:created xsi:type="dcterms:W3CDTF">2026-04-01T08:08:39Z</dcterms:created>
  <dcterms:modified xsi:type="dcterms:W3CDTF">2026-04-15T15:54:12Z</dcterms:modified>
</cp:coreProperties>
</file>